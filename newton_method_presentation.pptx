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3840480"/>
          </a:xfrm>
          <a:prstGeom prst="rect">
            <a:avLst/>
          </a:prstGeom>
          <a:solidFill>
            <a:srgbClr val="0D2A45"/>
          </a:solidFill>
          <a:ln w="25400">
            <a:solidFill>
              <a:srgbClr val="E8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Newton's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A800"/>
                </a:solidFill>
                <a:latin typeface="Calibri"/>
              </a:rPr>
              <a:t>A Second-Order Optimization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  <a:latin typeface="Calibri"/>
              </a:rPr>
              <a:t>Derivation · Convergence Analysis · Riemannian Perspective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CCEE"/>
                </a:solidFill>
                <a:latin typeface="Calibri"/>
              </a:rPr>
              <a:t>Based on: CS 435 Lecture 6  ·  Nisheeth Vishnoi  ·  April 12, 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A800"/>
                </a:solidFill>
                <a:latin typeface="Calibri"/>
              </a:rPr>
              <a:t>Scientific Seminar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Five major topics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94360" cy="868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Newton-Raphson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Root finding, update rule, quadratic convergence, multivariate extension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95144"/>
            <a:ext cx="11548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95144"/>
            <a:ext cx="594360" cy="868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24597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4086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Unconstrained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523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From root-finding to minimization; second-order approximation viewpoint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18688"/>
            <a:ext cx="11548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18688"/>
            <a:ext cx="594360" cy="868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3383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Euclidean-Norm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7588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Theorem 2, condition NE, limitations &amp; affine invariance issue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42232"/>
            <a:ext cx="11548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142232"/>
            <a:ext cx="594360" cy="868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4306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Riemannian Manifold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99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Hessian manifold, local norm, Newton's flow as gradient descent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65776"/>
            <a:ext cx="11548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065776"/>
            <a:ext cx="594360" cy="868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5230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114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Local-Norm Convergence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229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Condition NL, Theorem 4: affinely invariant quadratic convergence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Newton-Raphson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Root finding via tangent-line linearisation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3A5C"/>
                </a:solidFill>
                <a:latin typeface="Calibri"/>
              </a:rPr>
              <a:t>Core Idea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•  Given g : ℝ → ℝ, find r such that g(r) = 0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•  Start at x₀ near a root; draw the tangent line at (x₀, g(x₀))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•  Let x₁ be where that tangent meets the x-axis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•  Repeat: quadratic approach to the root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434840"/>
            <a:ext cx="5486400" cy="1188720"/>
          </a:xfrm>
          <a:prstGeom prst="rect">
            <a:avLst/>
          </a:prstGeom>
          <a:solidFill>
            <a:srgbClr val="E8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526279"/>
            <a:ext cx="5266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Update Rule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x_{k+1} := x_k  −  g(x_k) / g′(x_k)    for all k ≥ 0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Requires: g twice continuously differentiable (C²)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742432" cy="425196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463040"/>
            <a:ext cx="55229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Worked Example  (computing 1/a)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Minimise f(x) = ax − log x  ⟹  g(x) = a − 1/x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Newton update: x_{k+1} = 2x_k − a·x_k²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(no division required — only + and ×!)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Let e_k = 1 − a·x_k.  Then  e_{k+1} = e_k²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Converges iff |e₀| &lt; 1  (i.e. 0 &lt; x₀ &lt; 2/a)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Key insight: initial point choice is 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Quadratic Convergence (Theorem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Distance to root is squared at every iteration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41732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13294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6DA4"/>
                </a:solidFill>
                <a:latin typeface="Calibri"/>
              </a:rPr>
              <a:t>Theorem 1  (Quadratic Convergence for Root Finding)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Let g : ℝ → ℝ be C², r a root, x₀ a starting point, x₁ = x₀ − g(x₀)/g′(x₀).  Then: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   |r − x₁|  ≤  M · |r − x₀|²      where   M = sup_{ξ ∈ [r,x₀]}  |g″(ξ) / (2g′(x₀))|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260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Proof Sketch (Taylor expansion)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Expand g(r) = 0 around x₀ via Taylor / MVT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Use g(x₀) = g′(x₀)(x₀ − x₁) from the update definition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Algebra yields: g′(x₀)(r−x₁) = ½(r−x₀)²g″(ξ)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Divide by |g′(x₀)| to get the bound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926080"/>
            <a:ext cx="5742432" cy="182880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3017520"/>
            <a:ext cx="55229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Convergence Rate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If M ≤ 1 and |x₀ − r| &lt; ½ :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   |x_k − r|  ≤  |x₀ − r|^{2^k}  ≤  2^{−2^k}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To reach error ε: only k ≈ log log(1/ε) steps!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  ⟹  doubly-exponential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92040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6DA4"/>
                </a:solidFill>
                <a:latin typeface="Calibri"/>
              </a:rPr>
              <a:t>Practical note: Newton's method is robust even when no explicit bounds on M or |x₀ − r| are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Extension to Multivariate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Systems of nonlinear equations in ℝⁿ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Setting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Find x ∈ ℝⁿ satisfying g(x) = 0,  g : ℝⁿ → ℝⁿ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g(x) = (g₁(x), …, gₙ(x))ᵀ  —  n equations, n unknowns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Jacobian Jg(x₀) replaces the scalar derivative g′(x₀)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g(x) ≈ g(x₀) + Jg(x₀)(x − x₀) + o(‖x − x₀‖²)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429000"/>
            <a:ext cx="5577840" cy="132588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520440"/>
            <a:ext cx="53583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Multivariate Update Rule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x_{k+1} := x_k − Jg(x_k)⁻¹ · g(x_k)     for all k ≥ 0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Local quadratic convergence still 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742432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463040"/>
            <a:ext cx="55229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Jacobian vs. Scalar Derivative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Univariate:  x₁ = x₀ − g(x₀) / g′(x₀)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Multivariate: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• g(x₀) is a vector  ∈ ℝⁿ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• Jg(x₀) is an n×n matrix  [∂gᵢ/∂xⱼ]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• Division becomes matrix inversion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Convergence rate M now involves: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• Upper bound on Lipschitz const. of Jg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• Lower bound on ‖Jg(x)⁻¹‖ (spectral norm)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Newton's Method for Unconstrained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From root-finding to minimisation via gradient zeroing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097280"/>
          </a:xfrm>
          <a:prstGeom prst="rect">
            <a:avLst/>
          </a:prstGeom>
          <a:solidFill>
            <a:srgbClr val="E8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13294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Key Bridge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Minimising a smooth convex f  ≡  finding a root of ∇f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because  x* = argmin f(x)  iff  ∇f(x*) = 0  (for convex 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Newton Step &amp; Update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Apply multivariate rule to g := ∇f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Jacobian of ∇f  =  Hessian ∇²f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Update:  x_{k+1} := x_k − (∇²f(x_k))⁻¹ ∇f(x_k)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Define Newton step:  n(x) := −(∇²f(x))⁻¹ ∇f(x)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 Compact form:  x_{k+1} = x_k + n(x_k)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06040"/>
            <a:ext cx="5742432" cy="228600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697480"/>
            <a:ext cx="55229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Second-Order Interpretation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At each step, minimise the quadratic approximation: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f̃(x) = f(x₀) + ⟨x−x₀, ∇f(x₀)⟩ + ½(x−x₀)ᵀ∇²f(x₀)(x−x₀)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Setting ∇f̃(x) = 0 yields exactly the Newton step!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⟹ One step suffices for strictly convex quadratics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029200"/>
            <a:ext cx="11548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A5C"/>
                </a:solidFill>
                <a:latin typeface="Calibri"/>
              </a:rPr>
              <a:t>Computational Cost per Iteration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Must solve ∇²f(xₖ) · d = ∇f(xₖ)  —  an n×n linear system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Gaussian elimination: O(n³);  fast MM: O(n^ω);  special structures (SDD, Laplacians): Õ(m)  [Spielman–Teng 2004]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Example: Logarithmic Barrier &amp; Analytic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Newton's method applied to a polytope interior-point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577840" cy="137160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535838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Polytope Setting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P = { x ∈ ℝⁿ : ⟨aᵢ, x⟩ ≤ bᵢ,  i = 1,…,m }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Bounded, full-dimensional subset of ℝⁿ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42432" cy="137160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40"/>
            <a:ext cx="5522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Logarithmic Barrier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F(x) = − Σᵢ log(bᵢ − aᵢᵀ x)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Each term → +∞ as x approaches face { aᵢᵀx = bᵢ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557784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971800"/>
            <a:ext cx="53583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Gradient &amp; Hessian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sᵢ(x) := bᵢ − aᵢᵀx   (slack for constraint i)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∇F(x) = Σᵢ  aᵢ / sᵢ(x)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∇²F(x) = Σᵢ  aᵢaᵢᵀ / sᵢ(x)²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80360"/>
            <a:ext cx="5742432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971800"/>
            <a:ext cx="55229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Analytic Center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x* with ∇F(x*) = 0  is the analytic center of P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Physical view: point where all constraint 'forces' balance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Used to: assess polytope volume, initialise LP solvers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⟹ Key primitive for polynomial-time Linear 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937760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A5C"/>
                </a:solidFill>
                <a:latin typeface="Calibri"/>
              </a:rPr>
              <a:t>Computational Complexity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∇F(x): O(nm);  ∇²F(x): O(n²m) — reduces to O(m) for sparse aᵢ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If aᵢ form a graph incidence matrix ⟹ ∇²F is a Laplacian, solvable in Õ(m) [Spielman–Teng]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Convergence Analysis: Euclidean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Theorem 2 and Condition 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37160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1329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Theorem 2  (Quadratic Convergence w.r.t. Euclidean Norm)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Let f : ℝⁿ → ℝ, x* its minimiser, x₀ any starting point, x₁ := x₀ + n(x₀).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If condition NE(M) holds then:  ‖x₁ − x*‖₂  ≤  M · ‖x₀ − x*‖₂²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6492240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971800"/>
            <a:ext cx="62727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Condition NE(M) — Newton-Euclidean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∃ ball B(x*, R) containing x₀,  constants h, L &gt; 0  with  M ≥ L/(2h)  s.t.: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1. ‖H(x)⁻¹‖ ≤ 1/h   for all x ∈ B(x*, R)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   (Hessian 'magnitude' is large enough)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2. ‖H(x) − H(y)‖ ≤ L‖x−y‖₂   for all x,y ∈ B(x*, R)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   (Hessian is Lipschitz-continuous)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2880360"/>
            <a:ext cx="4873752" cy="214884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971800"/>
            <a:ext cx="46542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Proof Strategy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Apply FTC to ∇f to expand x₁ − x*: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x₁ − x* = H(x₀)⁻¹ ∫₀¹ (H(x₀+t(x*−x₀)) − H(x₀))(x*−x₀) dt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Take norms; use Lipschitz condition on integral.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Result: ‖x₁−x*‖₂ ≤ (L‖H(x₀)⁻¹‖ / 2) ‖x*−x₀‖₂²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166360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A5C"/>
                </a:solidFill>
                <a:latin typeface="Calibri"/>
              </a:rPr>
              <a:t>Analogy with Theorem 1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Condition 1 (large h): Hessian plays role of |g′(x)| being bounded away from zero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Condition 2 (Lipschitz H): bounds magnitude of third-order term D³f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Limitations of Euclidean-Norm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Affine invariance and why the Euclidean norm is the wrong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6492240" cy="2468880"/>
          </a:xfrm>
          <a:prstGeom prst="rect">
            <a:avLst/>
          </a:prstGeom>
          <a:solidFill>
            <a:srgbClr val="FFE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62727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Failure Example: Elongated Polytope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P = [−K₁, K₁] × [−1/K₂, 1/K₂] ⊆ ℝ²,   K₁, K₂ ≫ 1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Hessian at x* = (0,0):  h ≤ 2/K₁²  (tiny!)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Lipschitz constant of H:  L ≈ K₂²  (huge!)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M = L/(2h) = Ω(K₁²K₂²)  — Theorem 2 gives no useful bound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Yet Newton's method converges rapidly in practice!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371600"/>
            <a:ext cx="4873752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1463040"/>
            <a:ext cx="46542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Affine Invariance of Newton's Method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Consider affine map  φ(x) = Ax + b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If x₀ → x₁ under Newton's method for f̃(x) = f(Ax+b)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then φ(x₀) → φ(x₁) under Newton's method for f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⟹ Newton's trajectory is coordinate-independent!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Gradient descent does NOT have this property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(preconditioning can improve GD convergence)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77639"/>
            <a:ext cx="11548872" cy="123444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4069079"/>
            <a:ext cx="11329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The Core Problem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The constants h and L in condition NE change under affine reparametrisation,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even though Newton's method takes the same steps.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Solution: switch to an affinely invariant norm — the LOCAL NORM induced by the Hessian.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Newton's Method as Gradient Descent on a Riemannian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The Hessian manifold and the local norm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Motivating Observation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Minimise f(x₁,x₂) = x₁² + Kx₂²  (K large)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Gradient descent with fixed η: overshoots (‖∇f‖ ≈ 2K)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Must use  η ≈ 1/K  — very slow convergence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Better idea: replace Euclidean norm with the norm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   ‖(u₁,u₂)‖◦ = √(u₁²+Ku₂²) (the Hessian norm)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With this norm, the steepest descent points directly to x*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For η=1: one step reaches the exact minimum!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742432" cy="210312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63040"/>
            <a:ext cx="5522976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Local Inner Product &amp; Local Norm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For strictly convex f with Hessian H(x) = ∇²f(x):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  ⟨u, v⟩_x := uᵀH(x)v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  ‖u‖_x := √(uᵀH(x)u)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These define a Riemannian metric on ℝⁿ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that varies pointwise with x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Affinely invariant 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11880"/>
            <a:ext cx="11548872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703320"/>
            <a:ext cx="113294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Newton's Flow = Gradient Descent on Hessian Manifold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Steepest descent w.r.t. local norm ‖·‖_x :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   max_{‖u‖_x ≤ 1} [−⟨∇f(x), u⟩]   ⟹   u_opt ∝ −H(x)⁻¹∇f(x)  =  n(x)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Continuous-time limit:  dx/dt = −(∇²f(x))⁻¹ ∇f(x)   ← Newton's flow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Newton's method = Euler discretisation of Newton's flow on a Hessian manifold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Affinely Invariant Convergence: Local Norm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Theorem 4 and Condition NL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051560"/>
          </a:xfrm>
          <a:prstGeom prst="rect">
            <a:avLst/>
          </a:prstGeom>
          <a:solidFill>
            <a:srgbClr val="E2F0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13294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New Potential Function  λ(x) := ‖n(x)‖_x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λ(x) = √(∇f(x)ᵀ H(x)⁻¹ ∇f(x))       — affinely invariant</a:t>
            </a:r>
          </a:p>
          <a:p>
            <a:r>
              <a:rPr sz="1500">
                <a:solidFill>
                  <a:srgbClr val="1A1A2E"/>
                </a:solidFill>
                <a:latin typeface="Calibri"/>
              </a:rPr>
              <a:t>Interpretation: ½λ(x)² = gap between f(x) and minimum of the local quadratic approximation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11548872" cy="1234440"/>
          </a:xfrm>
          <a:prstGeom prst="rect">
            <a:avLst/>
          </a:prstGeom>
          <a:solidFill>
            <a:srgbClr val="E8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651760"/>
            <a:ext cx="11329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Theorem 4  (Quadratic Convergence w.r.t. Local Norm)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Let f satisfy condition NL, x₀ ∈ ℝⁿ, x₁ := x₀ + n(x₀).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If  λ(x₀) = ‖n(x₀)‖_{x₀} &lt; 1/6   then:</a:t>
            </a:r>
          </a:p>
          <a:p>
            <a:r>
              <a:rPr sz="1600">
                <a:solidFill>
                  <a:srgbClr val="1A1A2E"/>
                </a:solidFill>
                <a:latin typeface="Calibri"/>
              </a:rPr>
              <a:t>   ‖n(x₁)‖_{x₁}  ≤  3 · ‖n(x₀)‖_{x₀}²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31920"/>
            <a:ext cx="55778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4023359"/>
            <a:ext cx="53583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Condition NL (Newton-Local)  — affinely invariant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For all x, y with  ‖y − x‖_x = δ &lt; 1 :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(1 − 3δ) H(x)  ⪯  H(y)  ⪯  (1 + 3δ) H(x)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Hessian changes at most proportionally to itself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when moving by one 'local unit'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931920"/>
            <a:ext cx="5742432" cy="1691640"/>
          </a:xfrm>
          <a:prstGeom prst="rect">
            <a:avLst/>
          </a:prstGeom>
          <a:solidFill>
            <a:srgbClr val="FFFBE6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4023359"/>
            <a:ext cx="55229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6DA4"/>
                </a:solidFill>
                <a:latin typeface="Calibri"/>
              </a:rPr>
              <a:t>Proof Key Steps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1. Lemma 6: nearby local norms differ by ≤ 2×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 (‖y−x‖_x ≤ 1/6 ⟹ ½‖·‖_x ≤ ‖·‖_y ≤ 2‖·‖_x)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2. Write ∇f(x₁) = M(x₀) H(x₀)⁻¹ ∇f(x₀)  via FTC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3. Use NL + Fact 1 to bound ‖H⁻¹/²M H⁻¹/²‖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   ≤ (3/2)λ(x₀)  ⟹  Theorem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Summary &amp; Comparison of Analyses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00"/>
                </a:solidFill>
                <a:latin typeface="Calibri"/>
              </a:rPr>
              <a:t>Two convergence frameworks side by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990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Theorem 2 (Euclidean)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3990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Theorem 4 (Local Norm)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1154887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Convergence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0195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‖x₁ − x*‖₂ ≤ M‖x₀−x*‖₂²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0195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‖n(x₁)‖_{x₁} ≤ 3‖n(x₀)‖²_{x₀}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33472"/>
            <a:ext cx="11548872" cy="804672"/>
          </a:xfrm>
          <a:prstGeom prst="rect">
            <a:avLst/>
          </a:prstGeom>
          <a:solidFill>
            <a:srgbClr val="F0F7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Convergence 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06624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Condition NE (h, L, ball radius)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06624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Condition NL (local Lipschitz)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38144"/>
            <a:ext cx="1154887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1129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Affinely invariant?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11296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No  ✗  (h, L change with coords)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11296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Yes  ✓  (all quantities invariant)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42816"/>
            <a:ext cx="11548872" cy="804672"/>
          </a:xfrm>
          <a:prstGeom prst="rect">
            <a:avLst/>
          </a:prstGeom>
          <a:solidFill>
            <a:srgbClr val="F0F7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1596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Fails for log-barrier?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15968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Yes — M = Ω(K₁²K₂²) unusable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1596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No  ✓  — bounded regardless of 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47488"/>
            <a:ext cx="1154887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206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Proof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20640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Lipschitz H + operator norms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12064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FTC + Lemma 6 + PSD ordering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Big Picture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73152" cy="6858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365992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08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Second-Order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9222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Newton's method uses both gradient and curvature (Hessian). One step suffices for quadratics; convergence is doubly-exponential near the root.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31720"/>
            <a:ext cx="73152" cy="6858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1365992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68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Quadratic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5234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k ≈ log log(1/ε) iterations to reach precision ε — vastly faster than first-order methods which need O(1/ε) or O(log 1/ε) steps.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73152" cy="6858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11365992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284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Cost vs. 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1246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Each iteration requires solving an n×n linear system (O(n³) in general). Power comes with computational price; special structure (Laplacians, SDD) mitigates this.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73152" cy="6858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11365992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885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Affine Invariance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7258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Newton's method is coordinate-free. The Euclidean-norm analysis breaks this symmetry; local-norm (Riemannian) analysis restores it via condition NL.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12080"/>
            <a:ext cx="73152" cy="6858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12080"/>
            <a:ext cx="11365992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48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Connection to Interior-Point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3270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The logarithmic barrier + Newton's method → polynomial-time LP algorithm (Renegar 1988). Condition NL ≈ self-concordance (Nesterov–Nemirovskii 1994).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CS 435 · Newton's Method · Nisheeth Vishnoi 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[1] A. Galntai. The theory of Newton's method. J. Comput. Appl. Math., 124(1):25–44, 2000.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[2] Y. Nesterov &amp; A. Nemirovskii. Interior-Point Polynomial Algorithms in Convex Programming. SIAM, 1994.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[3] J. Raphson. Analysis aequationum universalis. London, 1690.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[4] J. Renegar. A polynomial-time algorithm, based on Newton's method, for linear programming. Math. Program., 40:59–93, 1988.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[5] D. A. Spielman &amp; S.-H. Teng. Nearly-linear time algorithms for graph partitioning, graph sparsification, and solving linear systems. STOC 2004.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85216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6DA4"/>
                </a:solidFill>
                <a:latin typeface="Calibri"/>
              </a:rPr>
              <a:t>Source: CS 435 (2018), Yale University — Lecture 6 notes by Nisheeth Vishnoi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